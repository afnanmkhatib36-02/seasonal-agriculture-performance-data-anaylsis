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968">
          <p15:clr>
            <a:srgbClr val="A4A3A4"/>
          </p15:clr>
        </p15:guide>
        <p15:guide id="2" pos="408">
          <p15:clr>
            <a:srgbClr val="A4A3A4"/>
          </p15:clr>
        </p15:guide>
        <p15:guide id="3" orient="horz" pos="3912">
          <p15:clr>
            <a:srgbClr val="A4A3A4"/>
          </p15:clr>
        </p15:guide>
        <p15:guide id="4" pos="7272">
          <p15:clr>
            <a:srgbClr val="A4A3A4"/>
          </p15:clr>
        </p15:guide>
        <p15:guide id="5" orient="horz" pos="165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968" orient="horz"/>
        <p:guide pos="408"/>
        <p:guide pos="3912" orient="horz"/>
        <p:guide pos="7272"/>
        <p:guide pos="1656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 txBox="1"/>
          <p:nvPr>
            <p:ph idx="1" type="body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31" name="Google Shape;31;p2"/>
          <p:cNvSpPr/>
          <p:nvPr/>
        </p:nvSpPr>
        <p:spPr>
          <a:xfrm>
            <a:off x="740309" y="1382809"/>
            <a:ext cx="1229566" cy="1059971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3755031" y="1194620"/>
            <a:ext cx="1666162" cy="1436347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3804994" y="5233183"/>
            <a:ext cx="718261" cy="619191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837838" y="1101306"/>
            <a:ext cx="651613" cy="561736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5" name="Google Shape;35;p2"/>
          <p:cNvSpPr/>
          <p:nvPr>
            <p:ph idx="2" type="pic"/>
          </p:nvPr>
        </p:nvSpPr>
        <p:spPr>
          <a:xfrm>
            <a:off x="1571515" y="1914044"/>
            <a:ext cx="3993624" cy="3617848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2"/>
          <p:cNvSpPr txBox="1"/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ebuchet MS"/>
              <a:buNone/>
              <a:defRPr sz="2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7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 txBox="1"/>
          <p:nvPr>
            <p:ph idx="1" type="body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oto Sans Symbols"/>
              <a:buChar char="▪"/>
              <a:defRPr sz="2000"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440"/>
              <a:buFont typeface="Noto Sans Symbols"/>
              <a:buChar char="▪"/>
              <a:defRPr sz="1800"/>
            </a:lvl2pPr>
            <a:lvl3pPr indent="-309880" lvl="2" marL="13716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80"/>
              <a:buFont typeface="Noto Sans Symbols"/>
              <a:buChar char="▪"/>
              <a:defRPr sz="1600"/>
            </a:lvl3pPr>
            <a:lvl4pPr indent="-309880" lvl="3" marL="18288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80"/>
              <a:buFont typeface="Noto Sans Symbols"/>
              <a:buChar char="▪"/>
              <a:defRPr sz="1600"/>
            </a:lvl4pPr>
            <a:lvl5pPr indent="-309880" lvl="4" marL="22860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80"/>
              <a:buFont typeface="Noto Sans Symbols"/>
              <a:buChar char="▪"/>
              <a:defRPr sz="1600"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39" name="Google Shape;39;p3"/>
          <p:cNvSpPr/>
          <p:nvPr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2" name="Google Shape;42;p3"/>
          <p:cNvSpPr/>
          <p:nvPr>
            <p:ph idx="2" type="pic"/>
          </p:nvPr>
        </p:nvSpPr>
        <p:spPr>
          <a:xfrm>
            <a:off x="7090227" y="786181"/>
            <a:ext cx="4441372" cy="5393036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3"/>
          <p:cNvSpPr txBox="1"/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rebuchet MS"/>
              <a:buNone/>
              <a:defRPr b="1" sz="48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">
  <p:cSld name="Introduc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/>
          <p:nvPr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5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5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5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8" name="Google Shape;48;p4"/>
          <p:cNvSpPr/>
          <p:nvPr>
            <p:ph idx="2" type="pic"/>
          </p:nvPr>
        </p:nvSpPr>
        <p:spPr>
          <a:xfrm>
            <a:off x="5733416" y="624239"/>
            <a:ext cx="5855754" cy="5631571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4"/>
          <p:cNvSpPr txBox="1"/>
          <p:nvPr>
            <p:ph idx="1" type="body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oto Sans Symbols"/>
              <a:buChar char="▪"/>
              <a:defRPr sz="2000"/>
            </a:lvl1pPr>
            <a:lvl2pPr indent="-330200" lvl="1" marL="9144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oto Sans Symbols"/>
              <a:buChar char="▪"/>
              <a:defRPr sz="2000"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440"/>
              <a:buFont typeface="Noto Sans Symbols"/>
              <a:buChar char="▪"/>
              <a:defRPr sz="1800"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440"/>
              <a:buFont typeface="Noto Sans Symbols"/>
              <a:buChar char="▪"/>
              <a:defRPr sz="1800"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440"/>
              <a:buFont typeface="Noto Sans Symbols"/>
              <a:buChar char="▪"/>
              <a:defRPr sz="1800"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50" name="Google Shape;50;p4"/>
          <p:cNvSpPr txBox="1"/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rebuchet MS"/>
              <a:buNone/>
              <a:defRPr b="1" sz="48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">
  <p:cSld name="Team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"/>
          <p:cNvSpPr/>
          <p:nvPr>
            <p:ph idx="2" type="pic"/>
          </p:nvPr>
        </p:nvSpPr>
        <p:spPr>
          <a:xfrm>
            <a:off x="5353508" y="2555551"/>
            <a:ext cx="1484985" cy="1280160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5"/>
          <p:cNvSpPr/>
          <p:nvPr>
            <p:ph idx="3" type="pic"/>
          </p:nvPr>
        </p:nvSpPr>
        <p:spPr>
          <a:xfrm>
            <a:off x="3115921" y="2555551"/>
            <a:ext cx="1484985" cy="128016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5"/>
          <p:cNvSpPr/>
          <p:nvPr>
            <p:ph idx="4" type="pic"/>
          </p:nvPr>
        </p:nvSpPr>
        <p:spPr>
          <a:xfrm>
            <a:off x="7602465" y="2555551"/>
            <a:ext cx="1484985" cy="128016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5"/>
          <p:cNvSpPr/>
          <p:nvPr>
            <p:ph idx="5" type="pic"/>
          </p:nvPr>
        </p:nvSpPr>
        <p:spPr>
          <a:xfrm>
            <a:off x="9840051" y="2555551"/>
            <a:ext cx="1484985" cy="1280160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5"/>
          <p:cNvSpPr txBox="1"/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"/>
          <p:cNvSpPr/>
          <p:nvPr/>
        </p:nvSpPr>
        <p:spPr>
          <a:xfrm>
            <a:off x="546669" y="3467555"/>
            <a:ext cx="458268" cy="395059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11113337" y="2394722"/>
            <a:ext cx="358391" cy="308958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10882649" y="2202202"/>
            <a:ext cx="230688" cy="198869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0" name="Google Shape;60;p5"/>
          <p:cNvSpPr txBox="1"/>
          <p:nvPr>
            <p:ph idx="1" type="body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1" name="Google Shape;61;p5"/>
          <p:cNvSpPr txBox="1"/>
          <p:nvPr>
            <p:ph idx="6" type="body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7" type="body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8" type="body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4" name="Google Shape;64;p5"/>
          <p:cNvSpPr txBox="1"/>
          <p:nvPr>
            <p:ph idx="9" type="body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5" name="Google Shape;65;p5"/>
          <p:cNvSpPr txBox="1"/>
          <p:nvPr>
            <p:ph idx="13" type="body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6" name="Google Shape;66;p5"/>
          <p:cNvSpPr txBox="1"/>
          <p:nvPr>
            <p:ph idx="14" type="body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7" name="Google Shape;67;p5"/>
          <p:cNvSpPr txBox="1"/>
          <p:nvPr>
            <p:ph idx="15" type="body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8" name="Google Shape;68;p5"/>
          <p:cNvSpPr txBox="1"/>
          <p:nvPr>
            <p:ph idx="16" type="body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9" name="Google Shape;69;p5"/>
          <p:cNvSpPr txBox="1"/>
          <p:nvPr>
            <p:ph idx="17" type="body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70" name="Google Shape;70;p5"/>
          <p:cNvSpPr/>
          <p:nvPr>
            <p:ph idx="18" type="pic"/>
          </p:nvPr>
        </p:nvSpPr>
        <p:spPr>
          <a:xfrm>
            <a:off x="878337" y="2555551"/>
            <a:ext cx="1484985" cy="128016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72;p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73" name="Google Shape;73;p6"/>
            <p:cNvSpPr/>
            <p:nvPr/>
          </p:nvSpPr>
          <p:spPr>
            <a:xfrm>
              <a:off x="0" y="-7862"/>
              <a:ext cx="863600" cy="5698067"/>
            </a:xfrm>
            <a:custGeom>
              <a:rect b="b" l="l" r="r" t="t"/>
              <a:pathLst>
                <a:path extrusionOk="0" h="5698067" w="863600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196"/>
              </a:schemeClr>
            </a:solidFill>
            <a:ln>
              <a:noFill/>
            </a:ln>
          </p:spPr>
        </p:sp>
        <p:cxnSp>
          <p:nvCxnSpPr>
            <p:cNvPr id="74" name="Google Shape;74;p6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chemeClr val="accent1">
                  <a:alpha val="70196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5" name="Google Shape;75;p6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cap="flat" cmpd="sng" w="9525">
              <a:solidFill>
                <a:schemeClr val="accent1">
                  <a:alpha val="70196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6" name="Google Shape;76;p6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78"/>
              </a:schemeClr>
            </a:solidFill>
            <a:ln>
              <a:noFill/>
            </a:ln>
          </p:spPr>
        </p:sp>
        <p:sp>
          <p:nvSpPr>
            <p:cNvPr id="77" name="Google Shape;77;p6"/>
            <p:cNvSpPr/>
            <p:nvPr/>
          </p:nvSpPr>
          <p:spPr>
            <a:xfrm>
              <a:off x="9603442" y="-8467"/>
              <a:ext cx="258855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78" name="Google Shape;78;p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fmla="val 100000" name="adj"/>
              </a:avLst>
            </a:prstGeom>
            <a:solidFill>
              <a:srgbClr val="16B0E3">
                <a:alpha val="6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6"/>
            <p:cNvSpPr/>
            <p:nvPr/>
          </p:nvSpPr>
          <p:spPr>
            <a:xfrm>
              <a:off x="9334500" y="-8467"/>
              <a:ext cx="2854326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B0E3">
                <a:alpha val="50196"/>
              </a:srgbClr>
            </a:solidFill>
            <a:ln>
              <a:noFill/>
            </a:ln>
          </p:spPr>
        </p:sp>
        <p:sp>
          <p:nvSpPr>
            <p:cNvPr id="80" name="Google Shape;80;p6"/>
            <p:cNvSpPr/>
            <p:nvPr/>
          </p:nvSpPr>
          <p:spPr>
            <a:xfrm>
              <a:off x="10898730" y="-8467"/>
              <a:ext cx="1290094" cy="6866467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196"/>
              </a:schemeClr>
            </a:solidFill>
            <a:ln>
              <a:noFill/>
            </a:ln>
          </p:spPr>
        </p:sp>
        <p:sp>
          <p:nvSpPr>
            <p:cNvPr id="81" name="Google Shape;81;p6"/>
            <p:cNvSpPr/>
            <p:nvPr/>
          </p:nvSpPr>
          <p:spPr>
            <a:xfrm>
              <a:off x="10938999" y="-8467"/>
              <a:ext cx="1249825" cy="6866467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6292">
                <a:alpha val="80000"/>
              </a:srgbClr>
            </a:solidFill>
            <a:ln>
              <a:noFill/>
            </a:ln>
          </p:spPr>
        </p:sp>
        <p:sp>
          <p:nvSpPr>
            <p:cNvPr id="82" name="Google Shape;82;p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fmla="val 100000" name="adj"/>
              </a:avLst>
            </a:prstGeom>
            <a:solidFill>
              <a:srgbClr val="16B0E3">
                <a:alpha val="6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3" name="Google Shape;83;p6"/>
          <p:cNvSpPr txBox="1"/>
          <p:nvPr>
            <p:ph type="ctrTitle"/>
          </p:nvPr>
        </p:nvSpPr>
        <p:spPr>
          <a:xfrm>
            <a:off x="1507067" y="2404534"/>
            <a:ext cx="7766936" cy="16463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rebuchet MS"/>
              <a:buNone/>
              <a:defRPr sz="54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6"/>
          <p:cNvSpPr txBox="1"/>
          <p:nvPr>
            <p:ph idx="1" type="subTitle"/>
          </p:nvPr>
        </p:nvSpPr>
        <p:spPr>
          <a:xfrm>
            <a:off x="1507067" y="4050833"/>
            <a:ext cx="7766936" cy="1096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rgbClr val="7F7F7F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5" name="Google Shape;85;p6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6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6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7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91" name="Google Shape;91;p7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7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7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"/>
          <p:cNvSpPr txBox="1"/>
          <p:nvPr>
            <p:ph type="title"/>
          </p:nvPr>
        </p:nvSpPr>
        <p:spPr>
          <a:xfrm>
            <a:off x="677335" y="2700867"/>
            <a:ext cx="8596668" cy="1826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rebuchet MS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8"/>
          <p:cNvSpPr txBox="1"/>
          <p:nvPr>
            <p:ph idx="1" type="body"/>
          </p:nvPr>
        </p:nvSpPr>
        <p:spPr>
          <a:xfrm>
            <a:off x="677335" y="4527448"/>
            <a:ext cx="859666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7" name="Google Shape;97;p8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8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8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9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" type="body"/>
          </p:nvPr>
        </p:nvSpPr>
        <p:spPr>
          <a:xfrm>
            <a:off x="677334" y="2160589"/>
            <a:ext cx="4184035" cy="3880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03" name="Google Shape;103;p9"/>
          <p:cNvSpPr txBox="1"/>
          <p:nvPr>
            <p:ph idx="2" type="body"/>
          </p:nvPr>
        </p:nvSpPr>
        <p:spPr>
          <a:xfrm>
            <a:off x="5089970" y="2160589"/>
            <a:ext cx="418403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04" name="Google Shape;104;p9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9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9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0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0"/>
          <p:cNvSpPr txBox="1"/>
          <p:nvPr>
            <p:ph idx="1" type="body"/>
          </p:nvPr>
        </p:nvSpPr>
        <p:spPr>
          <a:xfrm>
            <a:off x="675745" y="2160983"/>
            <a:ext cx="418562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10" name="Google Shape;110;p10"/>
          <p:cNvSpPr txBox="1"/>
          <p:nvPr>
            <p:ph idx="2" type="body"/>
          </p:nvPr>
        </p:nvSpPr>
        <p:spPr>
          <a:xfrm>
            <a:off x="675745" y="2737245"/>
            <a:ext cx="4185623" cy="3304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11" name="Google Shape;111;p10"/>
          <p:cNvSpPr txBox="1"/>
          <p:nvPr>
            <p:ph idx="3" type="body"/>
          </p:nvPr>
        </p:nvSpPr>
        <p:spPr>
          <a:xfrm>
            <a:off x="5088383" y="2160983"/>
            <a:ext cx="418561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12" name="Google Shape;112;p10"/>
          <p:cNvSpPr txBox="1"/>
          <p:nvPr>
            <p:ph idx="4" type="body"/>
          </p:nvPr>
        </p:nvSpPr>
        <p:spPr>
          <a:xfrm>
            <a:off x="5088384" y="2737245"/>
            <a:ext cx="4185617" cy="3304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13" name="Google Shape;113;p10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0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0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1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1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1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1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2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2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2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3"/>
          <p:cNvSpPr txBox="1"/>
          <p:nvPr>
            <p:ph type="title"/>
          </p:nvPr>
        </p:nvSpPr>
        <p:spPr>
          <a:xfrm>
            <a:off x="677334" y="1498604"/>
            <a:ext cx="3854528" cy="12784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rebuchet MS"/>
              <a:buNone/>
              <a:defRPr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13"/>
          <p:cNvSpPr txBox="1"/>
          <p:nvPr>
            <p:ph idx="1" type="body"/>
          </p:nvPr>
        </p:nvSpPr>
        <p:spPr>
          <a:xfrm>
            <a:off x="4760461" y="514924"/>
            <a:ext cx="4513541" cy="5526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28" name="Google Shape;128;p13"/>
          <p:cNvSpPr txBox="1"/>
          <p:nvPr>
            <p:ph idx="2" type="body"/>
          </p:nvPr>
        </p:nvSpPr>
        <p:spPr>
          <a:xfrm>
            <a:off x="677334" y="2777069"/>
            <a:ext cx="3854528" cy="25844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9pPr>
          </a:lstStyle>
          <a:p/>
        </p:txBody>
      </p:sp>
      <p:sp>
        <p:nvSpPr>
          <p:cNvPr id="129" name="Google Shape;129;p13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13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3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4"/>
          <p:cNvSpPr txBox="1"/>
          <p:nvPr>
            <p:ph type="title"/>
          </p:nvPr>
        </p:nvSpPr>
        <p:spPr>
          <a:xfrm>
            <a:off x="677334" y="4800600"/>
            <a:ext cx="8596667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rebuchet MS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4"/>
          <p:cNvSpPr/>
          <p:nvPr>
            <p:ph idx="2" type="pic"/>
          </p:nvPr>
        </p:nvSpPr>
        <p:spPr>
          <a:xfrm>
            <a:off x="677334" y="609600"/>
            <a:ext cx="8596668" cy="3845718"/>
          </a:xfrm>
          <a:prstGeom prst="rect">
            <a:avLst/>
          </a:prstGeom>
          <a:noFill/>
          <a:ln>
            <a:noFill/>
          </a:ln>
        </p:spPr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677334" y="5367338"/>
            <a:ext cx="8596667" cy="674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36" name="Google Shape;136;p14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4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8" name="Google Shape;138;p14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/>
          <p:nvPr>
            <p:ph type="title"/>
          </p:nvPr>
        </p:nvSpPr>
        <p:spPr>
          <a:xfrm>
            <a:off x="677335" y="609600"/>
            <a:ext cx="8596668" cy="34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15"/>
          <p:cNvSpPr txBox="1"/>
          <p:nvPr>
            <p:ph idx="1" type="body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15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15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 txBox="1"/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16"/>
          <p:cNvSpPr txBox="1"/>
          <p:nvPr>
            <p:ph idx="1" type="body"/>
          </p:nvPr>
        </p:nvSpPr>
        <p:spPr>
          <a:xfrm>
            <a:off x="1366139" y="3632200"/>
            <a:ext cx="7224524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 sz="16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48" name="Google Shape;148;p16"/>
          <p:cNvSpPr txBox="1"/>
          <p:nvPr>
            <p:ph idx="2" type="body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6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16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9EDFF5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9EDFF5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7"/>
          <p:cNvSpPr txBox="1"/>
          <p:nvPr>
            <p:ph type="title"/>
          </p:nvPr>
        </p:nvSpPr>
        <p:spPr>
          <a:xfrm>
            <a:off x="677335" y="1931988"/>
            <a:ext cx="8596668" cy="25954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17"/>
          <p:cNvSpPr txBox="1"/>
          <p:nvPr>
            <p:ph idx="1" type="body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57" name="Google Shape;157;p17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17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17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8"/>
          <p:cNvSpPr txBox="1"/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18"/>
          <p:cNvSpPr txBox="1"/>
          <p:nvPr>
            <p:ph idx="1" type="body"/>
          </p:nvPr>
        </p:nvSpPr>
        <p:spPr>
          <a:xfrm>
            <a:off x="677332" y="4013200"/>
            <a:ext cx="8596669" cy="5142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63" name="Google Shape;163;p18"/>
          <p:cNvSpPr txBox="1"/>
          <p:nvPr>
            <p:ph idx="2" type="body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4" name="Google Shape;164;p18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18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18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9EDFF5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9EDFF5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>
            <p:ph type="title"/>
          </p:nvPr>
        </p:nvSpPr>
        <p:spPr>
          <a:xfrm>
            <a:off x="685799" y="609600"/>
            <a:ext cx="8588203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19"/>
          <p:cNvSpPr txBox="1"/>
          <p:nvPr>
            <p:ph idx="1" type="body"/>
          </p:nvPr>
        </p:nvSpPr>
        <p:spPr>
          <a:xfrm>
            <a:off x="677332" y="4013200"/>
            <a:ext cx="8596669" cy="5142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72" name="Google Shape;172;p19"/>
          <p:cNvSpPr txBox="1"/>
          <p:nvPr>
            <p:ph idx="2" type="body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3" name="Google Shape;173;p19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19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19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20"/>
          <p:cNvSpPr txBox="1"/>
          <p:nvPr>
            <p:ph idx="1" type="body"/>
          </p:nvPr>
        </p:nvSpPr>
        <p:spPr>
          <a:xfrm rot="5400000">
            <a:off x="3035281" y="-197358"/>
            <a:ext cx="3880773" cy="85966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79" name="Google Shape;179;p20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20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20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"/>
          <p:cNvSpPr txBox="1"/>
          <p:nvPr>
            <p:ph type="title"/>
          </p:nvPr>
        </p:nvSpPr>
        <p:spPr>
          <a:xfrm rot="5400000">
            <a:off x="5994319" y="2582953"/>
            <a:ext cx="5251451" cy="13047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21"/>
          <p:cNvSpPr txBox="1"/>
          <p:nvPr>
            <p:ph idx="1" type="body"/>
          </p:nvPr>
        </p:nvSpPr>
        <p:spPr>
          <a:xfrm rot="5400000">
            <a:off x="1581685" y="-294750"/>
            <a:ext cx="5251450" cy="706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85" name="Google Shape;185;p21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21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21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 showMasterSp="0">
  <p:cSld name="1_Custom Layout">
    <p:bg>
      <p:bgPr>
        <a:solidFill>
          <a:schemeClr val="dk1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2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descr="Tall office building looking up" id="190" name="Google Shape;190;p22"/>
          <p:cNvSpPr/>
          <p:nvPr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cap="flat" cmpd="sng" w="603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1" name="Google Shape;191;p22"/>
          <p:cNvSpPr txBox="1"/>
          <p:nvPr>
            <p:ph idx="1" type="body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1000"/>
              </a:spcBef>
              <a:spcAft>
                <a:spcPts val="0"/>
              </a:spcAft>
              <a:buSzPts val="1920"/>
              <a:buNone/>
              <a:defRPr b="1" sz="24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None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92" name="Google Shape;192;p22"/>
          <p:cNvSpPr txBox="1"/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Trebuchet MS"/>
              <a:buNone/>
              <a:defRPr b="1" sz="48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Google Shape;11;p1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chemeClr val="accent1">
                  <a:alpha val="70196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" name="Google Shape;12;p1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cap="flat" cmpd="sng" w="9525">
              <a:solidFill>
                <a:schemeClr val="accent1">
                  <a:alpha val="70196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" name="Google Shape;13;p1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78"/>
              </a:schemeClr>
            </a:solidFill>
            <a:ln>
              <a:noFill/>
            </a:ln>
          </p:spPr>
        </p:sp>
        <p:sp>
          <p:nvSpPr>
            <p:cNvPr id="14" name="Google Shape;14;p1"/>
            <p:cNvSpPr/>
            <p:nvPr/>
          </p:nvSpPr>
          <p:spPr>
            <a:xfrm>
              <a:off x="9603442" y="-8467"/>
              <a:ext cx="258855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15" name="Google Shape;15;p1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fmla="val 100000" name="adj"/>
              </a:avLst>
            </a:prstGeom>
            <a:solidFill>
              <a:srgbClr val="16B0E3">
                <a:alpha val="6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9334500" y="-8467"/>
              <a:ext cx="2854326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B0E3">
                <a:alpha val="50196"/>
              </a:srgbClr>
            </a:solidFill>
            <a:ln>
              <a:noFill/>
            </a:ln>
          </p:spPr>
        </p:sp>
        <p:sp>
          <p:nvSpPr>
            <p:cNvPr id="17" name="Google Shape;17;p1"/>
            <p:cNvSpPr/>
            <p:nvPr/>
          </p:nvSpPr>
          <p:spPr>
            <a:xfrm>
              <a:off x="10898730" y="-8467"/>
              <a:ext cx="1290094" cy="6866467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196"/>
              </a:schemeClr>
            </a:solidFill>
            <a:ln>
              <a:noFill/>
            </a:ln>
          </p:spPr>
        </p:sp>
        <p:sp>
          <p:nvSpPr>
            <p:cNvPr id="18" name="Google Shape;18;p1"/>
            <p:cNvSpPr/>
            <p:nvPr/>
          </p:nvSpPr>
          <p:spPr>
            <a:xfrm>
              <a:off x="10938999" y="-8467"/>
              <a:ext cx="1249825" cy="6866467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6292">
                <a:alpha val="80000"/>
              </a:srgbClr>
            </a:solidFill>
            <a:ln>
              <a:noFill/>
            </a:ln>
          </p:spPr>
        </p:sp>
        <p:sp>
          <p:nvSpPr>
            <p:cNvPr id="19" name="Google Shape;19;p1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fmla="val 100000" name="adj"/>
              </a:avLst>
            </a:prstGeom>
            <a:solidFill>
              <a:srgbClr val="16B0E3">
                <a:alpha val="6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fmla="val 0" name="adj"/>
              </a:avLst>
            </a:prstGeom>
            <a:solidFill>
              <a:schemeClr val="accent1">
                <a:alpha val="7019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1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" name="Google Shape;22;p1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0988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9972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8956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8956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8956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8956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8956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8956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3" name="Google Shape;23;p1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4" name="Google Shape;24;p1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5" name="Google Shape;25;p1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1"/>
          <p:cNvSpPr txBox="1"/>
          <p:nvPr/>
        </p:nvSpPr>
        <p:spPr>
          <a:xfrm>
            <a:off x="660396" y="637890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9/3/2026</a:t>
            </a:r>
            <a:endParaRPr b="0" i="0" sz="1100" u="none" cap="none" strike="noStrike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" name="Google Shape;27;p1"/>
          <p:cNvSpPr txBox="1"/>
          <p:nvPr/>
        </p:nvSpPr>
        <p:spPr>
          <a:xfrm>
            <a:off x="1445526" y="637890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Annual Review</a:t>
            </a:r>
            <a:endParaRPr/>
          </a:p>
        </p:txBody>
      </p:sp>
      <p:sp>
        <p:nvSpPr>
          <p:cNvPr id="28" name="Google Shape;28;p1"/>
          <p:cNvSpPr txBox="1"/>
          <p:nvPr/>
        </p:nvSpPr>
        <p:spPr>
          <a:xfrm>
            <a:off x="8805338" y="637890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100" u="none" cap="none" strike="noStrike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 b="0" i="0" sz="1100" u="none" cap="none" strike="noStrike">
              <a:solidFill>
                <a:schemeClr val="accent4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Relationship Id="rId4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Relationship Id="rId4" Type="http://schemas.openxmlformats.org/officeDocument/2006/relationships/image" Target="../media/image6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3"/>
          <p:cNvSpPr txBox="1"/>
          <p:nvPr>
            <p:ph idx="1" type="body"/>
          </p:nvPr>
        </p:nvSpPr>
        <p:spPr>
          <a:xfrm>
            <a:off x="543375" y="3688225"/>
            <a:ext cx="80973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0" lang="en-US" sz="2400">
                <a:solidFill>
                  <a:schemeClr val="dk1"/>
                </a:solidFill>
              </a:rPr>
              <a:t>Student Name:</a:t>
            </a:r>
            <a:r>
              <a:rPr b="0" lang="en-US" sz="1800">
                <a:solidFill>
                  <a:schemeClr val="dk1"/>
                </a:solidFill>
              </a:rPr>
              <a:t> Afnan M Khatib </a:t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b="0" lang="en-US" sz="2400">
                <a:solidFill>
                  <a:schemeClr val="dk1"/>
                </a:solidFill>
              </a:rPr>
              <a:t>College Name:</a:t>
            </a:r>
            <a:r>
              <a:rPr b="0" lang="en-US" sz="1800">
                <a:solidFill>
                  <a:schemeClr val="dk1"/>
                </a:solidFill>
              </a:rPr>
              <a:t> KARNATAKA STATE OPEN UNIVERSITY, Mysore</a:t>
            </a:r>
            <a:endParaRPr b="0" sz="1800">
              <a:solidFill>
                <a:schemeClr val="dk1"/>
              </a:solidFill>
            </a:endParaRPr>
          </a:p>
        </p:txBody>
      </p:sp>
      <p:sp>
        <p:nvSpPr>
          <p:cNvPr id="198" name="Google Shape;198;p23"/>
          <p:cNvSpPr txBox="1"/>
          <p:nvPr>
            <p:ph type="title"/>
          </p:nvPr>
        </p:nvSpPr>
        <p:spPr>
          <a:xfrm>
            <a:off x="795499" y="2853025"/>
            <a:ext cx="91086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None/>
            </a:pPr>
            <a:r>
              <a:rPr lang="en-US" sz="3200"/>
              <a:t>Project Title -</a:t>
            </a:r>
            <a:r>
              <a:rPr lang="en-US" sz="2400"/>
              <a:t>Seasonal Agriculture Performance Data </a:t>
            </a:r>
            <a:r>
              <a:rPr lang="en-US" sz="2400"/>
              <a:t>Analysis</a:t>
            </a:r>
            <a:endParaRPr sz="2400"/>
          </a:p>
        </p:txBody>
      </p:sp>
      <p:sp>
        <p:nvSpPr>
          <p:cNvPr id="199" name="Google Shape;199;p23"/>
          <p:cNvSpPr txBox="1"/>
          <p:nvPr/>
        </p:nvSpPr>
        <p:spPr>
          <a:xfrm>
            <a:off x="6400800" y="2794001"/>
            <a:ext cx="3312160" cy="8614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r>
              <a:t/>
            </a:r>
            <a:endParaRPr b="1" i="0" sz="2400" u="none" cap="none" strike="noStrike">
              <a:solidFill>
                <a:schemeClr val="accent4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00" name="Google Shape;200;p23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3"/>
          <p:cNvSpPr txBox="1"/>
          <p:nvPr/>
        </p:nvSpPr>
        <p:spPr>
          <a:xfrm>
            <a:off x="543376" y="4879063"/>
            <a:ext cx="6112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AICTE STU ID : (</a:t>
            </a:r>
            <a:r>
              <a:rPr b="1"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STU6a089c4f40d4f1778949199</a:t>
            </a: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822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 txBox="1"/>
          <p:nvPr>
            <p:ph idx="1" type="body"/>
          </p:nvPr>
        </p:nvSpPr>
        <p:spPr>
          <a:xfrm>
            <a:off x="1046480" y="1875556"/>
            <a:ext cx="6431280" cy="3607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51536" lvl="0" marL="3429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80000"/>
              <a:buChar char="▪"/>
            </a:pPr>
            <a:r>
              <a:rPr lang="en-US" sz="2800"/>
              <a:t>Agriculture performance changes across different seasons due to variations in rainfall, temperature, soil conditions, irrigation, crop types, and farming practices.</a:t>
            </a:r>
            <a:endParaRPr sz="2800"/>
          </a:p>
          <a:p>
            <a:pPr indent="-351536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80000"/>
              <a:buChar char="▪"/>
            </a:pPr>
            <a:r>
              <a:rPr lang="en-US" sz="2800"/>
              <a:t>This project analyzes agricultural data to understand seasonal differences, identify patterns and trends, and compare crop performance, production, cost, revenue, and profit.</a:t>
            </a:r>
            <a:endParaRPr sz="2800"/>
          </a:p>
          <a:p>
            <a:pPr indent="0" lvl="0" marL="3429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207" name="Google Shape;207;p24"/>
          <p:cNvSpPr txBox="1"/>
          <p:nvPr>
            <p:ph type="title"/>
          </p:nvPr>
        </p:nvSpPr>
        <p:spPr>
          <a:xfrm>
            <a:off x="754602" y="550417"/>
            <a:ext cx="6995604" cy="7901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None/>
            </a:pPr>
            <a:r>
              <a:rPr lang="en-US"/>
              <a:t>PROBLEM  STATEMENT</a:t>
            </a:r>
            <a:endParaRPr/>
          </a:p>
        </p:txBody>
      </p:sp>
      <p:pic>
        <p:nvPicPr>
          <p:cNvPr id="208" name="Google Shape;20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95684" y="2930834"/>
            <a:ext cx="2760758" cy="32644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4"/>
          <p:cNvPicPr preferRelativeResize="0"/>
          <p:nvPr/>
        </p:nvPicPr>
        <p:blipFill rotWithShape="1">
          <a:blip r:embed="rId4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5"/>
          <p:cNvSpPr txBox="1"/>
          <p:nvPr>
            <p:ph type="title"/>
          </p:nvPr>
        </p:nvSpPr>
        <p:spPr>
          <a:xfrm>
            <a:off x="647699" y="189488"/>
            <a:ext cx="6276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81132"/>
              <a:buFont typeface="Trebuchet MS"/>
              <a:buNone/>
            </a:pPr>
            <a:r>
              <a:rPr lang="en-US"/>
              <a:t>Project Description</a:t>
            </a:r>
            <a:br>
              <a:rPr lang="en-US"/>
            </a:br>
            <a:r>
              <a:rPr lang="en-US" sz="2650"/>
              <a:t>This project analyzes seasonal agriculture data using Python.</a:t>
            </a:r>
            <a:endParaRPr sz="265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1509"/>
              <a:buFont typeface="Arial"/>
              <a:buNone/>
            </a:pPr>
            <a:r>
              <a:rPr lang="en-US" sz="2650"/>
              <a:t>The dataset contains information about crops, seasons, farm areas, rainfall, temperature, soil conditions, irrigation, production, costs, revenue, and profit.</a:t>
            </a:r>
            <a:endParaRPr sz="265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41509"/>
              <a:buFont typeface="Arial"/>
              <a:buNone/>
            </a:pPr>
            <a:r>
              <a:rPr lang="en-US" sz="2650"/>
              <a:t>The analysis uses Pandas, NumPy, Matplotlib, and Seaborn to identify seasonal patterns and compare agricultural performance.</a:t>
            </a:r>
            <a:br>
              <a:rPr lang="en-US"/>
            </a:br>
            <a:endParaRPr/>
          </a:p>
        </p:txBody>
      </p:sp>
      <p:pic>
        <p:nvPicPr>
          <p:cNvPr id="215" name="Google Shape;215;p25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7359" y="6410461"/>
            <a:ext cx="3706253" cy="2960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6"/>
          <p:cNvSpPr txBox="1"/>
          <p:nvPr>
            <p:ph idx="1" type="body"/>
          </p:nvPr>
        </p:nvSpPr>
        <p:spPr>
          <a:xfrm>
            <a:off x="721359" y="1991360"/>
            <a:ext cx="7904481" cy="3990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Farmers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to understand crop performance and improve farming decisions.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Agricultural Officers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to study seasonal agricultural patterns and performance.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Agricultural Researchers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to analyze trends and relationships in agricultural data.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Agribusinesses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to understand production, cost, revenue, and profit patterns.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0020" lvl="0" marL="3429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880"/>
              <a:buNone/>
            </a:pPr>
            <a:r>
              <a:t/>
            </a:r>
            <a:endParaRPr sz="2400"/>
          </a:p>
        </p:txBody>
      </p:sp>
      <p:sp>
        <p:nvSpPr>
          <p:cNvPr id="222" name="Google Shape;222;p26"/>
          <p:cNvSpPr txBox="1"/>
          <p:nvPr>
            <p:ph type="title"/>
          </p:nvPr>
        </p:nvSpPr>
        <p:spPr>
          <a:xfrm>
            <a:off x="620008" y="876617"/>
            <a:ext cx="10046070" cy="8026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rebuchet MS"/>
              <a:buNone/>
            </a:pPr>
            <a:r>
              <a:rPr lang="en-US" sz="3200"/>
              <a:t>WHO ARE THE END USERS?</a:t>
            </a:r>
            <a:endParaRPr sz="2000"/>
          </a:p>
        </p:txBody>
      </p:sp>
      <p:pic>
        <p:nvPicPr>
          <p:cNvPr id="223" name="Google Shape;22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1359" y="6176804"/>
            <a:ext cx="2181225" cy="48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359" y="6410461"/>
            <a:ext cx="3706253" cy="296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50800" y="3820160"/>
            <a:ext cx="1727200" cy="3010024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7"/>
          <p:cNvSpPr txBox="1"/>
          <p:nvPr>
            <p:ph idx="1" type="body"/>
          </p:nvPr>
        </p:nvSpPr>
        <p:spPr>
          <a:xfrm>
            <a:off x="1414143" y="1614610"/>
            <a:ext cx="9027600" cy="52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4150" lvl="0" marL="7429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Python</a:t>
            </a:r>
            <a:r>
              <a:rPr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Programming and analysis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4150" lvl="0" marL="7429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Pandas</a:t>
            </a:r>
            <a:r>
              <a:rPr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Data cleaning and analysis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4150" lvl="0" marL="7429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NumPy</a:t>
            </a:r>
            <a:r>
              <a:rPr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Numerical calculations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4150" lvl="0" marL="7429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Matplotlib</a:t>
            </a:r>
            <a:r>
              <a:rPr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Data visualization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4150" lvl="0" marL="7429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Seaborn</a:t>
            </a:r>
            <a:r>
              <a:rPr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Statistical visualization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4150" lvl="1" marL="7429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Google Colab</a:t>
            </a:r>
            <a:r>
              <a:rPr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Project development environment </a:t>
            </a:r>
            <a:endParaRPr sz="3000"/>
          </a:p>
        </p:txBody>
      </p:sp>
      <p:sp>
        <p:nvSpPr>
          <p:cNvPr id="232" name="Google Shape;232;p27"/>
          <p:cNvSpPr txBox="1"/>
          <p:nvPr>
            <p:ph type="title"/>
          </p:nvPr>
        </p:nvSpPr>
        <p:spPr>
          <a:xfrm>
            <a:off x="647701" y="430575"/>
            <a:ext cx="9371100" cy="8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rebuchet MS"/>
              <a:buNone/>
            </a:pPr>
            <a:r>
              <a:rPr lang="en-US"/>
              <a:t>       Technology Used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8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8"/>
          <p:cNvSpPr txBox="1"/>
          <p:nvPr/>
        </p:nvSpPr>
        <p:spPr>
          <a:xfrm>
            <a:off x="44938" y="97029"/>
            <a:ext cx="8947500" cy="55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</a:rPr>
              <a:t>Key Results</a:t>
            </a:r>
            <a:endParaRPr b="1" sz="36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Analyzed </a:t>
            </a:r>
            <a:r>
              <a:rPr b="1" lang="en-US" sz="2400">
                <a:solidFill>
                  <a:schemeClr val="dk1"/>
                </a:solidFill>
              </a:rPr>
              <a:t>4,000 agricultural records</a:t>
            </a:r>
            <a:r>
              <a:rPr lang="en-US" sz="2400">
                <a:solidFill>
                  <a:schemeClr val="dk1"/>
                </a:solidFill>
              </a:rPr>
              <a:t>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Compared agricultural performance across </a:t>
            </a:r>
            <a:r>
              <a:rPr b="1" lang="en-US" sz="2400">
                <a:solidFill>
                  <a:schemeClr val="dk1"/>
                </a:solidFill>
              </a:rPr>
              <a:t>3 seasons</a:t>
            </a:r>
            <a:r>
              <a:rPr lang="en-US" sz="2400">
                <a:solidFill>
                  <a:schemeClr val="dk1"/>
                </a:solidFill>
              </a:rPr>
              <a:t>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Studied crop-wise </a:t>
            </a:r>
            <a:r>
              <a:rPr b="1" lang="en-US" sz="2400">
                <a:solidFill>
                  <a:schemeClr val="dk1"/>
                </a:solidFill>
              </a:rPr>
              <a:t>yield and production</a:t>
            </a:r>
            <a:r>
              <a:rPr lang="en-US" sz="2400">
                <a:solidFill>
                  <a:schemeClr val="dk1"/>
                </a:solidFill>
              </a:rPr>
              <a:t>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Compared </a:t>
            </a:r>
            <a:r>
              <a:rPr b="1" lang="en-US" sz="2400">
                <a:solidFill>
                  <a:schemeClr val="dk1"/>
                </a:solidFill>
              </a:rPr>
              <a:t>cost, revenue, and profit</a:t>
            </a:r>
            <a:r>
              <a:rPr lang="en-US" sz="2400">
                <a:solidFill>
                  <a:schemeClr val="dk1"/>
                </a:solidFill>
              </a:rPr>
              <a:t>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Analyzed the relationship between </a:t>
            </a:r>
            <a:r>
              <a:rPr b="1" lang="en-US" sz="2400">
                <a:solidFill>
                  <a:schemeClr val="dk1"/>
                </a:solidFill>
              </a:rPr>
              <a:t>rainfall, temperature, irrigation, and yield</a:t>
            </a:r>
            <a:r>
              <a:rPr lang="en-US" sz="2400">
                <a:solidFill>
                  <a:schemeClr val="dk1"/>
                </a:solidFill>
              </a:rPr>
              <a:t>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Identified important seasonal patterns and variations.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239" name="Google Shape;239;p28"/>
          <p:cNvSpPr txBox="1"/>
          <p:nvPr/>
        </p:nvSpPr>
        <p:spPr>
          <a:xfrm>
            <a:off x="4494319" y="1275396"/>
            <a:ext cx="3343500" cy="6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9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9"/>
          <p:cNvSpPr txBox="1"/>
          <p:nvPr>
            <p:ph type="title"/>
          </p:nvPr>
        </p:nvSpPr>
        <p:spPr>
          <a:xfrm>
            <a:off x="501920" y="-11"/>
            <a:ext cx="29817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rebuchet MS"/>
              <a:buNone/>
            </a:pPr>
            <a:r>
              <a:rPr lang="en-US"/>
              <a:t>RESULTS </a:t>
            </a:r>
            <a:endParaRPr/>
          </a:p>
        </p:txBody>
      </p:sp>
      <p:sp>
        <p:nvSpPr>
          <p:cNvPr id="246" name="Google Shape;246;p29"/>
          <p:cNvSpPr txBox="1"/>
          <p:nvPr/>
        </p:nvSpPr>
        <p:spPr>
          <a:xfrm>
            <a:off x="320982" y="1275371"/>
            <a:ext cx="3343561" cy="6660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7" name="Google Shape;247;p29"/>
          <p:cNvSpPr txBox="1"/>
          <p:nvPr/>
        </p:nvSpPr>
        <p:spPr>
          <a:xfrm>
            <a:off x="4345694" y="1275371"/>
            <a:ext cx="3343561" cy="6660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8" name="Google Shape;248;p29"/>
          <p:cNvSpPr txBox="1"/>
          <p:nvPr>
            <p:ph idx="1" type="body"/>
          </p:nvPr>
        </p:nvSpPr>
        <p:spPr>
          <a:xfrm>
            <a:off x="7052275" y="1148550"/>
            <a:ext cx="3078900" cy="37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Finding: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Crop yield varies across seasons, showing that seasonal conditions influence agricultural performance.</a:t>
            </a:r>
            <a:endParaRPr sz="1800"/>
          </a:p>
        </p:txBody>
      </p:sp>
      <p:pic>
        <p:nvPicPr>
          <p:cNvPr id="249" name="Google Shape;249;p29" title="yield crop by sea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915000"/>
            <a:ext cx="6768399" cy="54676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30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30"/>
          <p:cNvSpPr txBox="1"/>
          <p:nvPr>
            <p:ph type="title"/>
          </p:nvPr>
        </p:nvSpPr>
        <p:spPr>
          <a:xfrm>
            <a:off x="320982" y="-11"/>
            <a:ext cx="29817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rebuchet MS"/>
              <a:buNone/>
            </a:pPr>
            <a:r>
              <a:rPr lang="en-US"/>
              <a:t>RESULTS </a:t>
            </a:r>
            <a:endParaRPr/>
          </a:p>
        </p:txBody>
      </p:sp>
      <p:sp>
        <p:nvSpPr>
          <p:cNvPr id="256" name="Google Shape;256;p30"/>
          <p:cNvSpPr txBox="1"/>
          <p:nvPr/>
        </p:nvSpPr>
        <p:spPr>
          <a:xfrm>
            <a:off x="320982" y="1275371"/>
            <a:ext cx="3343561" cy="6660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57" name="Google Shape;257;p30"/>
          <p:cNvSpPr txBox="1"/>
          <p:nvPr/>
        </p:nvSpPr>
        <p:spPr>
          <a:xfrm>
            <a:off x="4345694" y="1275371"/>
            <a:ext cx="3343561" cy="6660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58" name="Google Shape;258;p30"/>
          <p:cNvSpPr txBox="1"/>
          <p:nvPr>
            <p:ph idx="1" type="body"/>
          </p:nvPr>
        </p:nvSpPr>
        <p:spPr>
          <a:xfrm>
            <a:off x="7037050" y="1129247"/>
            <a:ext cx="4275000" cy="36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Finding: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Average agricultural production differs across seasons. </a:t>
            </a:r>
            <a:r>
              <a:rPr lang="en-US" sz="1800"/>
              <a:t> </a:t>
            </a:r>
            <a:endParaRPr sz="1800"/>
          </a:p>
        </p:txBody>
      </p:sp>
      <p:pic>
        <p:nvPicPr>
          <p:cNvPr id="259" name="Google Shape;259;p30" title="graph producti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2150" y="724050"/>
            <a:ext cx="6457899" cy="548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31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31"/>
          <p:cNvSpPr txBox="1"/>
          <p:nvPr>
            <p:ph type="title"/>
          </p:nvPr>
        </p:nvSpPr>
        <p:spPr>
          <a:xfrm>
            <a:off x="320982" y="-11"/>
            <a:ext cx="29817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rebuchet MS"/>
              <a:buNone/>
            </a:pPr>
            <a:r>
              <a:rPr lang="en-US"/>
              <a:t>RESULTS </a:t>
            </a:r>
            <a:endParaRPr/>
          </a:p>
        </p:txBody>
      </p:sp>
      <p:sp>
        <p:nvSpPr>
          <p:cNvPr id="266" name="Google Shape;266;p31"/>
          <p:cNvSpPr txBox="1"/>
          <p:nvPr/>
        </p:nvSpPr>
        <p:spPr>
          <a:xfrm>
            <a:off x="320982" y="1275371"/>
            <a:ext cx="3343561" cy="6660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67" name="Google Shape;267;p31"/>
          <p:cNvSpPr txBox="1"/>
          <p:nvPr/>
        </p:nvSpPr>
        <p:spPr>
          <a:xfrm>
            <a:off x="4345694" y="1275371"/>
            <a:ext cx="3343561" cy="6660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68" name="Google Shape;268;p31"/>
          <p:cNvSpPr txBox="1"/>
          <p:nvPr>
            <p:ph idx="1" type="body"/>
          </p:nvPr>
        </p:nvSpPr>
        <p:spPr>
          <a:xfrm>
            <a:off x="7084625" y="957475"/>
            <a:ext cx="3966000" cy="45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Finding: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Profitability changes across seasons due to differences in production, revenue, and costs.</a:t>
            </a:r>
            <a:endParaRPr sz="1800"/>
          </a:p>
        </p:txBody>
      </p:sp>
      <p:pic>
        <p:nvPicPr>
          <p:cNvPr id="269" name="Google Shape;269;p31" title="graph 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350" y="670800"/>
            <a:ext cx="6596225" cy="559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32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2"/>
          <p:cNvSpPr txBox="1"/>
          <p:nvPr>
            <p:ph type="title"/>
          </p:nvPr>
        </p:nvSpPr>
        <p:spPr>
          <a:xfrm>
            <a:off x="379482" y="-30911"/>
            <a:ext cx="29817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rebuchet MS"/>
              <a:buNone/>
            </a:pPr>
            <a:r>
              <a:rPr lang="en-US"/>
              <a:t>RESULTS </a:t>
            </a:r>
            <a:endParaRPr/>
          </a:p>
        </p:txBody>
      </p:sp>
      <p:sp>
        <p:nvSpPr>
          <p:cNvPr id="276" name="Google Shape;276;p32"/>
          <p:cNvSpPr txBox="1"/>
          <p:nvPr/>
        </p:nvSpPr>
        <p:spPr>
          <a:xfrm>
            <a:off x="320982" y="1275371"/>
            <a:ext cx="3343561" cy="6660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7" name="Google Shape;277;p32"/>
          <p:cNvSpPr txBox="1"/>
          <p:nvPr/>
        </p:nvSpPr>
        <p:spPr>
          <a:xfrm>
            <a:off x="4345694" y="1275371"/>
            <a:ext cx="3343561" cy="6660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8" name="Google Shape;278;p32"/>
          <p:cNvSpPr txBox="1"/>
          <p:nvPr>
            <p:ph idx="1" type="body"/>
          </p:nvPr>
        </p:nvSpPr>
        <p:spPr>
          <a:xfrm>
            <a:off x="7106200" y="922888"/>
            <a:ext cx="4275000" cy="30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Finding: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correlation analysis shows how environmental factors are related to crop yield. </a:t>
            </a:r>
            <a:endParaRPr/>
          </a:p>
        </p:txBody>
      </p:sp>
      <p:pic>
        <p:nvPicPr>
          <p:cNvPr id="279" name="Google Shape;279;p32" title="coreelati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625" y="641225"/>
            <a:ext cx="6548024" cy="613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33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3"/>
          <p:cNvSpPr txBox="1"/>
          <p:nvPr>
            <p:ph type="title"/>
          </p:nvPr>
        </p:nvSpPr>
        <p:spPr>
          <a:xfrm>
            <a:off x="675957" y="370589"/>
            <a:ext cx="473579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rebuchet MS"/>
              <a:buNone/>
            </a:pPr>
            <a:r>
              <a:rPr lang="en-US" sz="4000"/>
              <a:t>Future scope</a:t>
            </a:r>
            <a:endParaRPr/>
          </a:p>
        </p:txBody>
      </p:sp>
      <p:sp>
        <p:nvSpPr>
          <p:cNvPr id="286" name="Google Shape;286;p33"/>
          <p:cNvSpPr txBox="1"/>
          <p:nvPr/>
        </p:nvSpPr>
        <p:spPr>
          <a:xfrm>
            <a:off x="320975" y="1275400"/>
            <a:ext cx="8309100" cy="46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8382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Analyze more agricultural data from different regions and years.</a:t>
            </a:r>
            <a:endParaRPr sz="2400">
              <a:solidFill>
                <a:schemeClr val="dk1"/>
              </a:solidFill>
            </a:endParaRPr>
          </a:p>
          <a:p>
            <a:pPr indent="-381000" lvl="0" marL="838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Include additional environmental and economic factors.</a:t>
            </a:r>
            <a:endParaRPr sz="2400">
              <a:solidFill>
                <a:schemeClr val="dk1"/>
              </a:solidFill>
            </a:endParaRPr>
          </a:p>
          <a:p>
            <a:pPr indent="-381000" lvl="0" marL="838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Develop interactive dashboards for easier decision-making.</a:t>
            </a:r>
            <a:endParaRPr sz="2400">
              <a:solidFill>
                <a:schemeClr val="dk1"/>
              </a:solidFill>
            </a:endParaRPr>
          </a:p>
          <a:p>
            <a:pPr indent="-381000" lvl="0" marL="838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Use advanced analytics to improve agricultural planning.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</a:endParaRPr>
          </a:p>
        </p:txBody>
      </p:sp>
      <p:sp>
        <p:nvSpPr>
          <p:cNvPr id="287" name="Google Shape;287;p33"/>
          <p:cNvSpPr txBox="1"/>
          <p:nvPr/>
        </p:nvSpPr>
        <p:spPr>
          <a:xfrm>
            <a:off x="4345694" y="1275371"/>
            <a:ext cx="3343561" cy="6660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34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4"/>
          <p:cNvSpPr txBox="1"/>
          <p:nvPr>
            <p:ph type="title"/>
          </p:nvPr>
        </p:nvSpPr>
        <p:spPr>
          <a:xfrm>
            <a:off x="675957" y="370589"/>
            <a:ext cx="473579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rebuchet MS"/>
              <a:buNone/>
            </a:pPr>
            <a:r>
              <a:rPr lang="en-US" sz="4000"/>
              <a:t>GitHub Link</a:t>
            </a:r>
            <a:endParaRPr/>
          </a:p>
        </p:txBody>
      </p:sp>
      <p:sp>
        <p:nvSpPr>
          <p:cNvPr id="294" name="Google Shape;294;p34"/>
          <p:cNvSpPr txBox="1"/>
          <p:nvPr/>
        </p:nvSpPr>
        <p:spPr>
          <a:xfrm>
            <a:off x="320950" y="2416250"/>
            <a:ext cx="10464300" cy="28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rPr lang="en-US" sz="3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https://github.com/afnanmkhatib36-02/Seasonal-Agriculture-Performance-Data-Anaylsis.git</a:t>
            </a:r>
            <a:endParaRPr sz="3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95" name="Google Shape;295;p34"/>
          <p:cNvSpPr txBox="1"/>
          <p:nvPr/>
        </p:nvSpPr>
        <p:spPr>
          <a:xfrm>
            <a:off x="4345694" y="1275371"/>
            <a:ext cx="3343561" cy="6660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96" name="Google Shape;296;p34"/>
          <p:cNvSpPr txBox="1"/>
          <p:nvPr/>
        </p:nvSpPr>
        <p:spPr>
          <a:xfrm>
            <a:off x="729256" y="1440320"/>
            <a:ext cx="723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35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35"/>
          <p:cNvSpPr txBox="1"/>
          <p:nvPr>
            <p:ph type="title"/>
          </p:nvPr>
        </p:nvSpPr>
        <p:spPr>
          <a:xfrm>
            <a:off x="675957" y="370589"/>
            <a:ext cx="8351388" cy="884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None/>
            </a:pPr>
            <a:r>
              <a:rPr lang="en-US" sz="3200"/>
              <a:t>VOIS Course completion certificate - </a:t>
            </a:r>
            <a:br>
              <a:rPr lang="en-US" sz="3200"/>
            </a:br>
            <a:r>
              <a:rPr lang="en-US" sz="3200"/>
              <a:t>Course name- Data Visualization </a:t>
            </a:r>
            <a:endParaRPr/>
          </a:p>
        </p:txBody>
      </p:sp>
      <p:sp>
        <p:nvSpPr>
          <p:cNvPr id="303" name="Google Shape;303;p35"/>
          <p:cNvSpPr txBox="1"/>
          <p:nvPr/>
        </p:nvSpPr>
        <p:spPr>
          <a:xfrm>
            <a:off x="320982" y="1275371"/>
            <a:ext cx="3343561" cy="6660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04" name="Google Shape;304;p35"/>
          <p:cNvSpPr txBox="1"/>
          <p:nvPr/>
        </p:nvSpPr>
        <p:spPr>
          <a:xfrm>
            <a:off x="4345694" y="1275371"/>
            <a:ext cx="3343561" cy="6660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05" name="Google Shape;305;p35" title="Screenshot cerf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6775" y="1405900"/>
            <a:ext cx="8421625" cy="5259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6"/>
          <p:cNvSpPr txBox="1"/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None/>
            </a:pPr>
            <a:r>
              <a:rPr b="1" lang="en-US" sz="4800">
                <a:solidFill>
                  <a:schemeClr val="dk1"/>
                </a:solidFill>
              </a:rPr>
              <a:t>Thank you</a:t>
            </a:r>
            <a:endParaRPr/>
          </a:p>
        </p:txBody>
      </p:sp>
      <p:sp>
        <p:nvSpPr>
          <p:cNvPr id="311" name="Google Shape;311;p36"/>
          <p:cNvSpPr txBox="1"/>
          <p:nvPr>
            <p:ph idx="8" type="body"/>
          </p:nvPr>
        </p:nvSpPr>
        <p:spPr>
          <a:xfrm>
            <a:off x="3727865" y="4641925"/>
            <a:ext cx="2139695" cy="11086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280"/>
              <a:buNone/>
            </a:pPr>
            <a:r>
              <a:rPr lang="en-US"/>
              <a:t>.</a:t>
            </a:r>
            <a:endParaRPr/>
          </a:p>
        </p:txBody>
      </p:sp>
      <p:sp>
        <p:nvSpPr>
          <p:cNvPr id="312" name="Google Shape;312;p36"/>
          <p:cNvSpPr txBox="1"/>
          <p:nvPr/>
        </p:nvSpPr>
        <p:spPr>
          <a:xfrm>
            <a:off x="878337" y="4134780"/>
            <a:ext cx="2596574" cy="4539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r>
              <a:t/>
            </a:r>
            <a:endParaRPr b="1" sz="2400">
              <a:solidFill>
                <a:schemeClr val="accent4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13" name="Google Shape;313;p36"/>
          <p:cNvSpPr txBox="1"/>
          <p:nvPr/>
        </p:nvSpPr>
        <p:spPr>
          <a:xfrm>
            <a:off x="5353508" y="3962573"/>
            <a:ext cx="2596574" cy="4539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Noto Sans Symbols"/>
              <a:buNone/>
            </a:pPr>
            <a:r>
              <a:t/>
            </a:r>
            <a:endParaRPr b="1" sz="2200">
              <a:solidFill>
                <a:schemeClr val="accent4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14" name="Google Shape;314;p36"/>
          <p:cNvSpPr txBox="1"/>
          <p:nvPr/>
        </p:nvSpPr>
        <p:spPr>
          <a:xfrm>
            <a:off x="7789163" y="3962572"/>
            <a:ext cx="2596574" cy="4539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Noto Sans Symbols"/>
              <a:buNone/>
            </a:pPr>
            <a:r>
              <a:t/>
            </a:r>
            <a:endParaRPr b="1" sz="2200">
              <a:solidFill>
                <a:schemeClr val="accent4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15" name="Google Shape;315;p36"/>
          <p:cNvSpPr txBox="1"/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</a:pPr>
            <a:r>
              <a:t/>
            </a:r>
            <a:endParaRPr sz="16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16" name="Google Shape;316;p36"/>
          <p:cNvSpPr txBox="1"/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</a:pPr>
            <a:r>
              <a:rPr lang="en-US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/>
          </a:p>
        </p:txBody>
      </p:sp>
      <p:pic>
        <p:nvPicPr>
          <p:cNvPr id="317" name="Google Shape;317;p36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36"/>
          <p:cNvSpPr txBox="1"/>
          <p:nvPr>
            <p:ph idx="7" type="body"/>
          </p:nvPr>
        </p:nvSpPr>
        <p:spPr>
          <a:xfrm>
            <a:off x="2975013" y="3962573"/>
            <a:ext cx="2139696" cy="34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