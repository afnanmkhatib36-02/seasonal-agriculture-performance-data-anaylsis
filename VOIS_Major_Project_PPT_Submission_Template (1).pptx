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8" orient="horz"/>
        <p:guide pos="408"/>
        <p:guide pos="3912" orient="horz"/>
        <p:guide pos="7272"/>
        <p:guide pos="16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idx="1" type="body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1" name="Google Shape;31;p2"/>
          <p:cNvSpPr/>
          <p:nvPr/>
        </p:nvSpPr>
        <p:spPr>
          <a:xfrm>
            <a:off x="740309" y="1382809"/>
            <a:ext cx="1229566" cy="105997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755031" y="1194620"/>
            <a:ext cx="1666162" cy="1436347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804994" y="5233183"/>
            <a:ext cx="718261" cy="61919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837838" y="1101306"/>
            <a:ext cx="651613" cy="561736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35;p2"/>
          <p:cNvSpPr/>
          <p:nvPr>
            <p:ph idx="2" type="pic"/>
          </p:nvPr>
        </p:nvSpPr>
        <p:spPr>
          <a:xfrm>
            <a:off x="1571515" y="1914044"/>
            <a:ext cx="3993624" cy="3617848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"/>
          <p:cNvSpPr txBox="1"/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9" name="Google Shape;39;p3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Google Shape;42;p3"/>
          <p:cNvSpPr/>
          <p:nvPr>
            <p:ph idx="2" type="pic"/>
          </p:nvPr>
        </p:nvSpPr>
        <p:spPr>
          <a:xfrm>
            <a:off x="7090227" y="786181"/>
            <a:ext cx="4441372" cy="5393036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5733416" y="624239"/>
            <a:ext cx="5855754" cy="5631571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4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30200" lvl="1" marL="9144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>
            <p:ph idx="2" type="pic"/>
          </p:nvPr>
        </p:nvSpPr>
        <p:spPr>
          <a:xfrm>
            <a:off x="5353508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"/>
          <p:cNvSpPr/>
          <p:nvPr>
            <p:ph idx="3" type="pic"/>
          </p:nvPr>
        </p:nvSpPr>
        <p:spPr>
          <a:xfrm>
            <a:off x="311592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/>
          <p:nvPr>
            <p:ph idx="4" type="pic"/>
          </p:nvPr>
        </p:nvSpPr>
        <p:spPr>
          <a:xfrm>
            <a:off x="7602465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"/>
          <p:cNvSpPr/>
          <p:nvPr>
            <p:ph idx="5" type="pic"/>
          </p:nvPr>
        </p:nvSpPr>
        <p:spPr>
          <a:xfrm>
            <a:off x="984005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/>
          <p:nvPr/>
        </p:nvSpPr>
        <p:spPr>
          <a:xfrm>
            <a:off x="546669" y="3467555"/>
            <a:ext cx="458268" cy="39505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113337" y="2394722"/>
            <a:ext cx="358391" cy="30895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882649" y="2202202"/>
            <a:ext cx="230688" cy="19886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5"/>
          <p:cNvSpPr txBox="1"/>
          <p:nvPr>
            <p:ph idx="1" type="body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6" type="body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7" type="body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8" type="body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9" type="body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3" type="body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4" type="body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5" type="body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6" type="body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7" type="body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0" name="Google Shape;70;p5"/>
          <p:cNvSpPr/>
          <p:nvPr>
            <p:ph idx="18" type="pic"/>
          </p:nvPr>
        </p:nvSpPr>
        <p:spPr>
          <a:xfrm>
            <a:off x="878337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73" name="Google Shape;73;p6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196"/>
              </a:schemeClr>
            </a:solidFill>
            <a:ln>
              <a:noFill/>
            </a:ln>
          </p:spPr>
        </p:sp>
        <p:cxnSp>
          <p:nvCxnSpPr>
            <p:cNvPr id="74" name="Google Shape;74;p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6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" name="Google Shape;76;p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77" name="Google Shape;77;p6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8" name="Google Shape;78;p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80" name="Google Shape;80;p6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81" name="Google Shape;81;p6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82" name="Google Shape;82;p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6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2" name="Google Shape;112;p10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129" name="Google Shape;129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6" name="Google Shape;136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7" name="Google Shape;157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descr="Tall office building looking up" id="190" name="Google Shape;190;p22"/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cap="flat" cmpd="sng" w="60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00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b="1" sz="4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7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660396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9/3/2026</a:t>
            </a:r>
            <a:endParaRPr b="0" i="0" sz="11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445526" y="63789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8805338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1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543375" y="3688225"/>
            <a:ext cx="80973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lang="en-US" sz="2400">
                <a:solidFill>
                  <a:schemeClr val="dk1"/>
                </a:solidFill>
              </a:rPr>
              <a:t>Student Name:</a:t>
            </a:r>
            <a:r>
              <a:rPr b="0" lang="en-US" sz="1800">
                <a:solidFill>
                  <a:schemeClr val="dk1"/>
                </a:solidFill>
              </a:rPr>
              <a:t> Afnan M Khatib 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0" lang="en-US" sz="2400">
                <a:solidFill>
                  <a:schemeClr val="dk1"/>
                </a:solidFill>
              </a:rPr>
              <a:t>College Name:</a:t>
            </a:r>
            <a:r>
              <a:rPr b="0" lang="en-US" sz="1800">
                <a:solidFill>
                  <a:schemeClr val="dk1"/>
                </a:solidFill>
              </a:rPr>
              <a:t> KARNATAKA STATE OPEN UNIVERSITY, Mysore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198" name="Google Shape;198;p23"/>
          <p:cNvSpPr txBox="1"/>
          <p:nvPr>
            <p:ph type="title"/>
          </p:nvPr>
        </p:nvSpPr>
        <p:spPr>
          <a:xfrm>
            <a:off x="795499" y="2853025"/>
            <a:ext cx="91086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 sz="3200"/>
              <a:t>Project Title -</a:t>
            </a:r>
            <a:r>
              <a:rPr lang="en-US" sz="2400"/>
              <a:t>Seasonal Agriculture Performance Data </a:t>
            </a:r>
            <a:r>
              <a:rPr lang="en-US" sz="2400"/>
              <a:t>Analysis</a:t>
            </a:r>
            <a:endParaRPr sz="2400"/>
          </a:p>
        </p:txBody>
      </p:sp>
      <p:sp>
        <p:nvSpPr>
          <p:cNvPr id="199" name="Google Shape;199;p23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543376" y="4879063"/>
            <a:ext cx="611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AICTE STU ID : (</a:t>
            </a:r>
            <a:r>
              <a:rPr b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STU6a089c4f40d4f1778949199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1046480" y="1875556"/>
            <a:ext cx="6431280" cy="36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51536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0000"/>
              <a:buChar char="▪"/>
            </a:pPr>
            <a:r>
              <a:rPr lang="en-US" sz="2800"/>
              <a:t>Agriculture performance changes across different seasons due to variations in rainfall, temperature, soil conditions, irrigation, crop types, and farming practices.</a:t>
            </a:r>
            <a:endParaRPr sz="2800"/>
          </a:p>
          <a:p>
            <a:pPr indent="-351536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0000"/>
              <a:buChar char="▪"/>
            </a:pPr>
            <a:r>
              <a:rPr lang="en-US" sz="2800"/>
              <a:t>This project analyzes agricultural data to understand seasonal differences, identify patterns and trends, and compare crop performance, production, cost, revenue, and profit.</a:t>
            </a:r>
            <a:endParaRPr sz="2800"/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07" name="Google Shape;207;p24"/>
          <p:cNvSpPr txBox="1"/>
          <p:nvPr>
            <p:ph type="title"/>
          </p:nvPr>
        </p:nvSpPr>
        <p:spPr>
          <a:xfrm>
            <a:off x="754602" y="550417"/>
            <a:ext cx="6995604" cy="790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/>
              <a:t>PROBLEM  STATEMENT</a:t>
            </a:r>
            <a:endParaRPr/>
          </a:p>
        </p:txBody>
      </p:sp>
      <p:pic>
        <p:nvPicPr>
          <p:cNvPr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684" y="2930834"/>
            <a:ext cx="2760758" cy="326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/>
          <p:cNvPicPr preferRelativeResize="0"/>
          <p:nvPr/>
        </p:nvPicPr>
        <p:blipFill rotWithShape="1">
          <a:blip r:embed="rId4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647699" y="189488"/>
            <a:ext cx="627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1132"/>
              <a:buFont typeface="Trebuchet MS"/>
              <a:buNone/>
            </a:pPr>
            <a:r>
              <a:rPr lang="en-US"/>
              <a:t>Project Description</a:t>
            </a:r>
            <a:br>
              <a:rPr lang="en-US"/>
            </a:br>
            <a:r>
              <a:rPr lang="en-US" sz="2650"/>
              <a:t>This project analyzes seasonal agriculture data using Python.</a:t>
            </a:r>
            <a:endParaRPr sz="2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en-US" sz="2650"/>
              <a:t>The dataset contains information about crops, seasons, farm areas, rainfall, temperature, soil conditions, irrigation, production, costs, revenue, and profit.</a:t>
            </a:r>
            <a:endParaRPr sz="2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en-US" sz="2650"/>
              <a:t>The analysis uses Pandas, NumPy, Matplotlib, and Seaborn to identify seasonal patterns and compare agricultural performance.</a:t>
            </a:r>
            <a:br>
              <a:rPr lang="en-US"/>
            </a:br>
            <a:endParaRPr/>
          </a:p>
        </p:txBody>
      </p:sp>
      <p:pic>
        <p:nvPicPr>
          <p:cNvPr id="215" name="Google Shape;215;p2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721359" y="1991360"/>
            <a:ext cx="7904481" cy="3990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Farmers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to understand crop performance and improve farming decisions.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Agricultural Officers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to study seasonal agricultural patterns and performance.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Agricultural Researchers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to analyze trends and relationships in agricultural data.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Agribusinesses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to understand production, cost, revenue, and profit patterns.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20" lvl="0" marL="3429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2400"/>
          </a:p>
        </p:txBody>
      </p:sp>
      <p:sp>
        <p:nvSpPr>
          <p:cNvPr id="222" name="Google Shape;222;p26"/>
          <p:cNvSpPr txBox="1"/>
          <p:nvPr>
            <p:ph type="title"/>
          </p:nvPr>
        </p:nvSpPr>
        <p:spPr>
          <a:xfrm>
            <a:off x="620008" y="876617"/>
            <a:ext cx="10046070" cy="8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/>
              <a:t>WHO ARE THE END USERS?</a:t>
            </a:r>
            <a:endParaRPr sz="2000"/>
          </a:p>
        </p:txBody>
      </p:sp>
      <p:pic>
        <p:nvPicPr>
          <p:cNvPr id="223" name="Google Shape;2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0800" y="3820160"/>
            <a:ext cx="1727200" cy="3010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1414143" y="1614610"/>
            <a:ext cx="9027600" cy="52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Programming and analysis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Data cleaning and analysis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Numerical calculations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Data visualization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Statistical visualization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Project development environment </a:t>
            </a:r>
            <a:endParaRPr sz="3000"/>
          </a:p>
        </p:txBody>
      </p:sp>
      <p:sp>
        <p:nvSpPr>
          <p:cNvPr id="232" name="Google Shape;232;p27"/>
          <p:cNvSpPr txBox="1"/>
          <p:nvPr>
            <p:ph type="title"/>
          </p:nvPr>
        </p:nvSpPr>
        <p:spPr>
          <a:xfrm>
            <a:off x="647701" y="430575"/>
            <a:ext cx="93711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       Technology Used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/>
        </p:nvSpPr>
        <p:spPr>
          <a:xfrm>
            <a:off x="44938" y="97029"/>
            <a:ext cx="8947500" cy="55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Key Results</a:t>
            </a:r>
            <a:endParaRPr b="1" sz="36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Analyzed </a:t>
            </a:r>
            <a:r>
              <a:rPr b="1" lang="en-US" sz="2400">
                <a:solidFill>
                  <a:schemeClr val="dk1"/>
                </a:solidFill>
              </a:rPr>
              <a:t>4,000 agricultural records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Compared agricultural performance across </a:t>
            </a:r>
            <a:r>
              <a:rPr b="1" lang="en-US" sz="2400">
                <a:solidFill>
                  <a:schemeClr val="dk1"/>
                </a:solidFill>
              </a:rPr>
              <a:t>3 seasons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Studied crop-wise </a:t>
            </a:r>
            <a:r>
              <a:rPr b="1" lang="en-US" sz="2400">
                <a:solidFill>
                  <a:schemeClr val="dk1"/>
                </a:solidFill>
              </a:rPr>
              <a:t>yield and production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Compared </a:t>
            </a:r>
            <a:r>
              <a:rPr b="1" lang="en-US" sz="2400">
                <a:solidFill>
                  <a:schemeClr val="dk1"/>
                </a:solidFill>
              </a:rPr>
              <a:t>cost, revenue, and profit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Analyzed the relationship between </a:t>
            </a:r>
            <a:r>
              <a:rPr b="1" lang="en-US" sz="2400">
                <a:solidFill>
                  <a:schemeClr val="dk1"/>
                </a:solidFill>
              </a:rPr>
              <a:t>rainfall, temperature, irrigation, and yield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Identified important seasonal patterns and variations.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4494319" y="1275396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9"/>
          <p:cNvSpPr txBox="1"/>
          <p:nvPr>
            <p:ph type="title"/>
          </p:nvPr>
        </p:nvSpPr>
        <p:spPr>
          <a:xfrm>
            <a:off x="501920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46" name="Google Shape;246;p29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p29"/>
          <p:cNvSpPr txBox="1"/>
          <p:nvPr>
            <p:ph idx="1" type="body"/>
          </p:nvPr>
        </p:nvSpPr>
        <p:spPr>
          <a:xfrm>
            <a:off x="7052275" y="1148550"/>
            <a:ext cx="3078900" cy="3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Crop yield varies across seasons, showing that seasonal conditions influence agricultural performance.</a:t>
            </a:r>
            <a:endParaRPr sz="1800"/>
          </a:p>
        </p:txBody>
      </p:sp>
      <p:pic>
        <p:nvPicPr>
          <p:cNvPr id="249" name="Google Shape;249;p29" title="yield crop by se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15000"/>
            <a:ext cx="6768399" cy="5467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/>
          <p:nvPr>
            <p:ph type="title"/>
          </p:nvPr>
        </p:nvSpPr>
        <p:spPr>
          <a:xfrm>
            <a:off x="320982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7037050" y="1129247"/>
            <a:ext cx="4275000" cy="3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Finding: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agricultural production differs across seasons. </a:t>
            </a:r>
            <a:r>
              <a:rPr lang="en-US" sz="1800"/>
              <a:t> </a:t>
            </a:r>
            <a:endParaRPr sz="1800"/>
          </a:p>
        </p:txBody>
      </p:sp>
      <p:pic>
        <p:nvPicPr>
          <p:cNvPr id="259" name="Google Shape;259;p30" title="graph produc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150" y="724050"/>
            <a:ext cx="6457899" cy="54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>
            <p:ph type="title"/>
          </p:nvPr>
        </p:nvSpPr>
        <p:spPr>
          <a:xfrm>
            <a:off x="320982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" name="Google Shape;268;p31"/>
          <p:cNvSpPr txBox="1"/>
          <p:nvPr>
            <p:ph idx="1" type="body"/>
          </p:nvPr>
        </p:nvSpPr>
        <p:spPr>
          <a:xfrm>
            <a:off x="7084625" y="957475"/>
            <a:ext cx="3966000" cy="45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Profitability changes across seasons due to differences in production, revenue, and costs.</a:t>
            </a:r>
            <a:endParaRPr sz="1800"/>
          </a:p>
        </p:txBody>
      </p:sp>
      <p:pic>
        <p:nvPicPr>
          <p:cNvPr id="269" name="Google Shape;269;p31" title="graph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0" y="670800"/>
            <a:ext cx="6596225" cy="559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2"/>
          <p:cNvSpPr txBox="1"/>
          <p:nvPr>
            <p:ph type="title"/>
          </p:nvPr>
        </p:nvSpPr>
        <p:spPr>
          <a:xfrm>
            <a:off x="379482" y="-309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RESULTS </a:t>
            </a:r>
            <a:endParaRPr/>
          </a:p>
        </p:txBody>
      </p:sp>
      <p:sp>
        <p:nvSpPr>
          <p:cNvPr id="276" name="Google Shape;276;p32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8" name="Google Shape;278;p32"/>
          <p:cNvSpPr txBox="1"/>
          <p:nvPr>
            <p:ph idx="1" type="body"/>
          </p:nvPr>
        </p:nvSpPr>
        <p:spPr>
          <a:xfrm>
            <a:off x="7106200" y="922888"/>
            <a:ext cx="4275000" cy="30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correlation analysis shows how environmental factors are related to crop yield. </a:t>
            </a:r>
            <a:endParaRPr/>
          </a:p>
        </p:txBody>
      </p:sp>
      <p:pic>
        <p:nvPicPr>
          <p:cNvPr id="279" name="Google Shape;279;p32" title="coreel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625" y="641225"/>
            <a:ext cx="6548024" cy="61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/>
          <p:nvPr>
            <p:ph type="title"/>
          </p:nvPr>
        </p:nvSpPr>
        <p:spPr>
          <a:xfrm>
            <a:off x="675957" y="370589"/>
            <a:ext cx="47357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lang="en-US" sz="4000"/>
              <a:t>Future scope</a:t>
            </a:r>
            <a:endParaRPr/>
          </a:p>
        </p:txBody>
      </p:sp>
      <p:sp>
        <p:nvSpPr>
          <p:cNvPr id="286" name="Google Shape;286;p33"/>
          <p:cNvSpPr txBox="1"/>
          <p:nvPr/>
        </p:nvSpPr>
        <p:spPr>
          <a:xfrm>
            <a:off x="320975" y="1275400"/>
            <a:ext cx="8309100" cy="46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Analyze more agricultural data from different regions and years.</a:t>
            </a:r>
            <a:endParaRPr sz="2400">
              <a:solidFill>
                <a:schemeClr val="dk1"/>
              </a:solidFill>
            </a:endParaRPr>
          </a:p>
          <a:p>
            <a:pPr indent="-3810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Include additional environmental and economic factors.</a:t>
            </a:r>
            <a:endParaRPr sz="2400">
              <a:solidFill>
                <a:schemeClr val="dk1"/>
              </a:solidFill>
            </a:endParaRPr>
          </a:p>
          <a:p>
            <a:pPr indent="-3810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Develop interactive dashboards for easier decision-making.</a:t>
            </a:r>
            <a:endParaRPr sz="2400">
              <a:solidFill>
                <a:schemeClr val="dk1"/>
              </a:solidFill>
            </a:endParaRPr>
          </a:p>
          <a:p>
            <a:pPr indent="-38100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Use advanced analytics to improve agricultural planning.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4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 txBox="1"/>
          <p:nvPr>
            <p:ph type="title"/>
          </p:nvPr>
        </p:nvSpPr>
        <p:spPr>
          <a:xfrm>
            <a:off x="675957" y="370589"/>
            <a:ext cx="47357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lang="en-US" sz="4000"/>
              <a:t>GitHub Link</a:t>
            </a:r>
            <a:endParaRPr/>
          </a:p>
        </p:txBody>
      </p:sp>
      <p:sp>
        <p:nvSpPr>
          <p:cNvPr id="294" name="Google Shape;294;p34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5" name="Google Shape;295;p34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6" name="Google Shape;296;p34"/>
          <p:cNvSpPr txBox="1"/>
          <p:nvPr/>
        </p:nvSpPr>
        <p:spPr>
          <a:xfrm>
            <a:off x="729256" y="1440320"/>
            <a:ext cx="723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5"/>
          <p:cNvSpPr txBox="1"/>
          <p:nvPr>
            <p:ph type="title"/>
          </p:nvPr>
        </p:nvSpPr>
        <p:spPr>
          <a:xfrm>
            <a:off x="675957" y="370589"/>
            <a:ext cx="8351388" cy="884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 sz="3200"/>
              <a:t>VOIS Course completion certificate - </a:t>
            </a:r>
            <a:br>
              <a:rPr lang="en-US" sz="3200"/>
            </a:br>
            <a:r>
              <a:rPr lang="en-US" sz="3200"/>
              <a:t>Course name- Data Visualization </a:t>
            </a:r>
            <a:endParaRPr/>
          </a:p>
        </p:txBody>
      </p:sp>
      <p:sp>
        <p:nvSpPr>
          <p:cNvPr id="303" name="Google Shape;303;p35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5" name="Google Shape;305;p35" title="Screenshot cerf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775" y="1405900"/>
            <a:ext cx="8421625" cy="525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</a:rPr>
              <a:t>Thank you</a:t>
            </a:r>
            <a:endParaRPr/>
          </a:p>
        </p:txBody>
      </p:sp>
      <p:sp>
        <p:nvSpPr>
          <p:cNvPr id="311" name="Google Shape;311;p36"/>
          <p:cNvSpPr txBox="1"/>
          <p:nvPr>
            <p:ph idx="8" type="body"/>
          </p:nvPr>
        </p:nvSpPr>
        <p:spPr>
          <a:xfrm>
            <a:off x="3727865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-US"/>
              <a:t>.</a:t>
            </a:r>
            <a:endParaRPr/>
          </a:p>
        </p:txBody>
      </p:sp>
      <p:sp>
        <p:nvSpPr>
          <p:cNvPr id="312" name="Google Shape;312;p36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sz="24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1" sz="22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1" sz="2200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</p:txBody>
      </p:sp>
      <p:pic>
        <p:nvPicPr>
          <p:cNvPr id="317" name="Google Shape;317;p36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6"/>
          <p:cNvSpPr txBox="1"/>
          <p:nvPr>
            <p:ph idx="7" type="body"/>
          </p:nvPr>
        </p:nvSpPr>
        <p:spPr>
          <a:xfrm>
            <a:off x="2975013" y="3962573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